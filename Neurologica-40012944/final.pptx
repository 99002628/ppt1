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00" r:id="rId3"/>
    <p:sldId id="4174" r:id="rId4"/>
    <p:sldId id="271" r:id="rId5"/>
    <p:sldId id="275" r:id="rId6"/>
    <p:sldId id="277" r:id="rId7"/>
    <p:sldId id="276" r:id="rId8"/>
    <p:sldId id="278" r:id="rId9"/>
    <p:sldId id="303" r:id="rId10"/>
    <p:sldId id="279" r:id="rId11"/>
    <p:sldId id="4171" r:id="rId12"/>
    <p:sldId id="281" r:id="rId13"/>
    <p:sldId id="280" r:id="rId14"/>
    <p:sldId id="283" r:id="rId15"/>
    <p:sldId id="4175" r:id="rId16"/>
    <p:sldId id="4176" r:id="rId17"/>
    <p:sldId id="4177" r:id="rId18"/>
    <p:sldId id="4178" r:id="rId19"/>
    <p:sldId id="4172" r:id="rId20"/>
    <p:sldId id="288" r:id="rId21"/>
    <p:sldId id="296" r:id="rId22"/>
    <p:sldId id="295" r:id="rId23"/>
    <p:sldId id="289" r:id="rId24"/>
    <p:sldId id="290" r:id="rId25"/>
    <p:sldId id="292" r:id="rId26"/>
    <p:sldId id="293" r:id="rId27"/>
    <p:sldId id="294" r:id="rId28"/>
    <p:sldId id="4173" r:id="rId29"/>
    <p:sldId id="297" r:id="rId30"/>
    <p:sldId id="306" r:id="rId31"/>
    <p:sldId id="4179" r:id="rId32"/>
    <p:sldId id="307" r:id="rId33"/>
    <p:sldId id="308" r:id="rId34"/>
    <p:sldId id="309" r:id="rId35"/>
    <p:sldId id="29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TTS comments" initials="LTTS" lastIdx="13" clrIdx="0">
    <p:extLst>
      <p:ext uri="{19B8F6BF-5375-455C-9EA6-DF929625EA0E}">
        <p15:presenceInfo xmlns:p15="http://schemas.microsoft.com/office/powerpoint/2012/main" userId="LTTS comment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A830-DCCF-4A0C-A0A3-2BBB1D6F9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5AAE-9F96-4FF9-932C-03E5AB75D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7FB44-6EFA-4632-A8C6-70FFB874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3290E-ABA1-40D3-8DE8-0A1CAF62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CD6A-0CF3-4263-9311-97DBC6D1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E1C7-A9FA-43EF-977F-59F1E0FF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FDF01-371E-4125-8ACB-12499313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7292-1608-4055-AA29-AC63C33B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EDD80-CC9B-48AC-A2DA-8A1F0195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4AD4E-51A9-4FE3-9F78-62B8E790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68E1-5E85-43D6-B0DD-E5C3A4F9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F7B29-0A2F-4A44-9AD6-63E4B207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BBF82-69BA-4D7A-BD8B-C86B7F2F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A4AA-E12D-426F-8FFA-7F12AA72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9464-E007-4303-9527-0ADD5E87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7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DC96-AC12-46F7-BC50-5BC3AFE1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E124-F786-4248-B480-9371A6733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B42CA-B9B2-4B54-88A7-E23C0D117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58051-7AB2-434E-94EA-25FCEE51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CF7AF-1E40-489C-9C13-4FBA6DDC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EE7B9-2D24-47D6-A7B1-885FC246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26A3-42CD-4481-9B8F-9E73640B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BCFE3-FB0D-4071-AAB8-D7E62148A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142B7-5508-4FD8-843D-80F75A3B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2225C-076D-4C52-81EF-C81926E6E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A6DC1-00B8-4BE4-B09D-5B4F88FAF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78CAEA-D567-42F8-B883-52CBA046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CFD06-9201-4063-B911-E4203141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91E08-7277-47C8-BC81-9B565D32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4645-5CB1-472A-A1D9-334487D9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1C327-1E9E-4DF2-BDF5-14801A5E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51089-6497-4048-BD32-53E50B75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D98D9-1138-4D6D-8BC5-471A42EC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8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838B0-34D9-40A3-997F-10C7DB84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2D918-C845-4F7B-A8BF-F5007914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BAD3C-D22D-4232-975C-44F25E7C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36BB-991B-4FF3-A505-AB3365E9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BDE0-3675-439F-A4B6-52A6330F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CF122-A458-4515-A0FB-AE0049DC1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1697B-2DEA-4DF4-80CC-B1816F48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D3691-14CD-4468-9F05-EDDABD9E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9A7CB-649E-4BA0-9F99-B50BE9E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1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46EFF-5673-424E-BA8C-5859931C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EC0BE-C220-4493-B06F-7C1FCA15D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C6EAB-1F07-462B-89FC-C811E74A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D9C52-CC80-47A9-A175-FF2EBE59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40B32-BF19-4DE3-A3E7-CFA0940C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BAF2-C6A8-46C8-8B0C-A0399A8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0A40-5396-4462-A063-B603CDF7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59E1B-2B79-4ECB-890F-552CA02BD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D369-11A9-4FCA-8257-65DDD624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254D-7653-4AAC-9806-7B4FE94C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A1F5E-3909-454C-B3B1-032E6AEB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D2219-93E0-47F4-A10F-423FC998A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D9874-01FB-4157-A849-C613607DD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770E-660C-491B-9F10-7E7B4B21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FC6A-43DE-4736-9EFB-07AA7A6A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2375-9437-45BE-A4D1-B6E876F8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33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 userDrawn="1"/>
        </p:nvGrpSpPr>
        <p:grpSpPr bwMode="gray">
          <a:xfrm>
            <a:off x="-1" y="0"/>
            <a:ext cx="12183353" cy="6553200"/>
            <a:chOff x="-1" y="0"/>
            <a:chExt cx="9137515" cy="4914900"/>
          </a:xfrm>
        </p:grpSpPr>
        <p:cxnSp>
          <p:nvCxnSpPr>
            <p:cNvPr id="63" name="Straight Connector 62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 userDrawn="1"/>
        </p:nvGrpSpPr>
        <p:grpSpPr bwMode="gray">
          <a:xfrm>
            <a:off x="266968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 bwMode="gray">
          <a:xfrm>
            <a:off x="6641654" y="2481425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12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1332675" y="1007106"/>
            <a:ext cx="5403405" cy="2081535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Title Text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  <p:sp>
        <p:nvSpPr>
          <p:cNvPr id="23" name="Text Placeholder 1030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64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600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123" name="TextBox 122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1588762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836713"/>
            <a:ext cx="12192000" cy="5744667"/>
          </a:xfr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 with Image Background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220755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1424" y="1879113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2537472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11424" y="3195831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424" y="3854189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911424" y="4512548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11424" y="517090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11424" y="582926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72915" y="1220755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72915" y="1879113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72915" y="2537472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372915" y="3195831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72915" y="3854189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72915" y="4512548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372915" y="517090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372915" y="582926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07206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No Gr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06400" y="2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3" name="Group 1"/>
          <p:cNvGrpSpPr/>
          <p:nvPr userDrawn="1"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50023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/>
          <p:cNvGrpSpPr/>
          <p:nvPr userDrawn="1"/>
        </p:nvGrpSpPr>
        <p:grpSpPr bwMode="gray">
          <a:xfrm>
            <a:off x="-1" y="-17293"/>
            <a:ext cx="12183353" cy="6553200"/>
            <a:chOff x="-1" y="0"/>
            <a:chExt cx="9137515" cy="4914900"/>
          </a:xfrm>
        </p:grpSpPr>
        <p:cxnSp>
          <p:nvCxnSpPr>
            <p:cNvPr id="130" name="Straight Connector 129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968474" y="1323939"/>
            <a:ext cx="3528087" cy="1325563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Thank you.</a:t>
            </a:r>
            <a:endParaRPr lang="en-IN" dirty="0"/>
          </a:p>
        </p:txBody>
      </p: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46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grpSp>
        <p:nvGrpSpPr>
          <p:cNvPr id="25" name="Group 24"/>
          <p:cNvGrpSpPr/>
          <p:nvPr userDrawn="1"/>
        </p:nvGrpSpPr>
        <p:grpSpPr bwMode="gray"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 bwMode="gray"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112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13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14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115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21726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/>
          <p:cNvGrpSpPr/>
          <p:nvPr userDrawn="1"/>
        </p:nvGrpSpPr>
        <p:grpSpPr bwMode="gray">
          <a:xfrm>
            <a:off x="-12610" y="0"/>
            <a:ext cx="12183353" cy="6553200"/>
            <a:chOff x="-9458" y="0"/>
            <a:chExt cx="9137515" cy="4914900"/>
          </a:xfrm>
        </p:grpSpPr>
        <p:cxnSp>
          <p:nvCxnSpPr>
            <p:cNvPr id="119" name="Straight Connector 118"/>
            <p:cNvCxnSpPr/>
            <p:nvPr userDrawn="1"/>
          </p:nvCxnSpPr>
          <p:spPr bwMode="gray">
            <a:xfrm>
              <a:off x="1331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858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43857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5913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7440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8967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10494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12022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13549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15076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16604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18131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19658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21185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22713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24240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257678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27295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288224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30349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318770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334043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34931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364589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37986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395135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41040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42568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440954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45622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471500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48677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502046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517319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53259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547864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56313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578410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593683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60895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624229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63950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654775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670048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68532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700594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71586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731140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746413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76168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776959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79223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807505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822778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83805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853324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86859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88387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899142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flipH="1">
              <a:off x="-9458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flipH="1">
              <a:off x="-9458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flipH="1">
              <a:off x="-9458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flipH="1">
              <a:off x="-9458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flipH="1">
              <a:off x="-9458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flipH="1">
              <a:off x="-9458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flipH="1">
              <a:off x="-9458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flipH="1">
              <a:off x="-9458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flipH="1">
              <a:off x="-9458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flipH="1">
              <a:off x="-9458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flipH="1">
              <a:off x="-9458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9458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9458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9458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9458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9458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9458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9458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9458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9458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9458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9458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9458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9458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9458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9458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9458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9458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9458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9458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9458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9458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9458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 userDrawn="1"/>
        </p:nvGrpSpPr>
        <p:grpSpPr bwMode="gray">
          <a:xfrm>
            <a:off x="1735928" y="1786591"/>
            <a:ext cx="937741" cy="991132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18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Group 19"/>
          <p:cNvGrpSpPr/>
          <p:nvPr userDrawn="1"/>
        </p:nvGrpSpPr>
        <p:grpSpPr bwMode="gray">
          <a:xfrm>
            <a:off x="9542501" y="3280153"/>
            <a:ext cx="917355" cy="993073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2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5" name="Parallelogram 24"/>
          <p:cNvSpPr/>
          <p:nvPr/>
        </p:nvSpPr>
        <p:spPr bwMode="gray">
          <a:xfrm>
            <a:off x="1905691" y="2177108"/>
            <a:ext cx="8442885" cy="1577177"/>
          </a:xfrm>
          <a:prstGeom prst="parallelogram">
            <a:avLst>
              <a:gd name="adj" fmla="val 58625"/>
            </a:avLst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905691" y="2178051"/>
            <a:ext cx="8414933" cy="1576916"/>
          </a:xfrm>
          <a:prstGeom prst="parallelogram">
            <a:avLst>
              <a:gd name="adj" fmla="val 58503"/>
            </a:avLst>
          </a:prstGeom>
        </p:spPr>
        <p:txBody>
          <a:bodyPr lIns="36000" rIns="36000"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  <a:lvl2pPr marL="457177" indent="0" algn="ctr">
              <a:buFontTx/>
              <a:buNone/>
              <a:defRPr/>
            </a:lvl2pPr>
            <a:lvl3pPr marL="914353" indent="0" algn="ctr">
              <a:buFontTx/>
              <a:buNone/>
              <a:defRPr/>
            </a:lvl3pPr>
            <a:lvl4pPr marL="1371531" indent="0" algn="ctr">
              <a:buFontTx/>
              <a:buNone/>
              <a:defRPr/>
            </a:lvl4pPr>
            <a:lvl5pPr marL="1828709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Section Breaker</a:t>
            </a:r>
          </a:p>
        </p:txBody>
      </p:sp>
      <p:sp>
        <p:nvSpPr>
          <p:cNvPr id="117" name="TextBox 116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14681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1FA0F-4ECF-47A5-B349-79568690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3D6E-94F9-481E-89CA-FAD93A3E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30B6-348F-452A-95ED-3DE9A7923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110-BA27-4DE8-B7E0-CC739A2F998B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C52B-7BB8-405C-9791-500D625E1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B1C95-C04A-4FB1-8A11-7CD1AB6C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a.org/training-and-certification/isa-certification/isa99iec-62443/isa99iec-62443-cybersecurity-certificate-programs" TargetMode="Externa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59504" y="1041991"/>
            <a:ext cx="8521198" cy="1122326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SaMD (Software as a Medical Device) ,</a:t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3600" b="1" i="0" dirty="0">
                <a:solidFill>
                  <a:schemeClr val="tx1"/>
                </a:solidFill>
                <a:effectLst/>
              </a:rPr>
              <a:t>) &amp; </a:t>
            </a:r>
            <a:br>
              <a:rPr lang="en-US" sz="3600" b="1" i="0" dirty="0">
                <a:solidFill>
                  <a:schemeClr val="tx1"/>
                </a:solidFill>
                <a:effectLst/>
              </a:rPr>
            </a:br>
            <a:r>
              <a:rPr lang="en-US" sz="3600" b="1" dirty="0"/>
              <a:t>IEC Standards</a:t>
            </a:r>
            <a:br>
              <a:rPr lang="en-US" sz="3600" b="1" dirty="0">
                <a:solidFill>
                  <a:schemeClr val="tx1"/>
                </a:solidFill>
              </a:rPr>
            </a:br>
            <a:br>
              <a:rPr lang="en-US" sz="3600" b="1" dirty="0">
                <a:solidFill>
                  <a:schemeClr val="tx1"/>
                </a:solidFill>
              </a:rPr>
            </a:br>
            <a:endParaRPr lang="en-US" sz="3600" b="1" dirty="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59503" y="2472547"/>
            <a:ext cx="4858623" cy="463576"/>
          </a:xfrm>
        </p:spPr>
        <p:txBody>
          <a:bodyPr/>
          <a:lstStyle/>
          <a:p>
            <a:r>
              <a:rPr lang="en-US" b="1" dirty="0"/>
              <a:t>Madhura Ramojwar</a:t>
            </a: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4" r="249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9746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" b="4478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083" y="1"/>
            <a:ext cx="11379200" cy="673820"/>
          </a:xfrm>
        </p:spPr>
        <p:txBody>
          <a:bodyPr/>
          <a:lstStyle/>
          <a:p>
            <a:r>
              <a:rPr lang="en-IN" b="1" dirty="0"/>
              <a:t>Agenda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911424" y="1220755"/>
            <a:ext cx="9933784" cy="384043"/>
          </a:xfrm>
        </p:spPr>
        <p:txBody>
          <a:bodyPr/>
          <a:lstStyle/>
          <a:p>
            <a:r>
              <a:rPr lang="en-IN" sz="20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SaMD and SiMD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11424" y="1879113"/>
            <a:ext cx="9933785" cy="384043"/>
          </a:xfrm>
        </p:spPr>
        <p:txBody>
          <a:bodyPr/>
          <a:lstStyle/>
          <a:p>
            <a:r>
              <a:rPr lang="en-IN" sz="20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IEC 15408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11424" y="2537472"/>
            <a:ext cx="9806195" cy="384043"/>
          </a:xfrm>
        </p:spPr>
        <p:txBody>
          <a:bodyPr/>
          <a:lstStyle/>
          <a:p>
            <a:r>
              <a:rPr lang="en-IN" sz="20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IEC 62443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11423" y="3195831"/>
            <a:ext cx="9678604" cy="384043"/>
          </a:xfrm>
        </p:spPr>
        <p:txBody>
          <a:bodyPr/>
          <a:lstStyle/>
          <a:p>
            <a:r>
              <a:rPr lang="en-IN" sz="2000" dirty="0"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IEC 60601-4-5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05691" y="1786270"/>
            <a:ext cx="7780569" cy="2094614"/>
          </a:xfrm>
        </p:spPr>
        <p:txBody>
          <a:bodyPr/>
          <a:lstStyle/>
          <a:p>
            <a:r>
              <a:rPr lang="en-IN" sz="2400" b="1" dirty="0"/>
              <a:t> </a:t>
            </a:r>
            <a:r>
              <a:rPr lang="en-US" sz="2400" b="1" dirty="0"/>
              <a:t>SaMD (Software as a Medical Device) SiMD (Software in a Medical Device</a:t>
            </a:r>
            <a:r>
              <a:rPr lang="en-US" sz="2400" b="1" i="0" dirty="0">
                <a:effectLst/>
              </a:rPr>
              <a:t>) </a:t>
            </a:r>
            <a:endParaRPr lang="en-IN" sz="2400" b="1" dirty="0"/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77993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A64F-D468-47CE-8DF6-D2D46F0A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+mn-lt"/>
              </a:rPr>
              <a:t>SaMD (</a:t>
            </a:r>
            <a:r>
              <a:rPr lang="pt-BR" sz="2000" b="1" i="0" dirty="0">
                <a:effectLst/>
                <a:latin typeface="+mn-lt"/>
              </a:rPr>
              <a:t>Software as a Medical Device)</a:t>
            </a:r>
            <a:endParaRPr lang="en-US" sz="2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</a:t>
            </a:r>
            <a:r>
              <a:rPr lang="en-US" sz="2000" b="0" i="0" dirty="0">
                <a:effectLst/>
              </a:rPr>
              <a:t>efined by the </a:t>
            </a:r>
            <a:r>
              <a:rPr lang="en-US" sz="2000" b="1" i="0" dirty="0">
                <a:effectLst/>
              </a:rPr>
              <a:t>International Medical Device Regulators Forum (IMDRF).</a:t>
            </a:r>
          </a:p>
          <a:p>
            <a:r>
              <a:rPr lang="en-US" sz="2000" b="1" dirty="0"/>
              <a:t>IMDRF Definition : </a:t>
            </a:r>
            <a:r>
              <a:rPr lang="en-US" sz="2000" dirty="0">
                <a:solidFill>
                  <a:srgbClr val="202124"/>
                </a:solidFill>
              </a:rPr>
              <a:t>G</a:t>
            </a:r>
            <a:r>
              <a:rPr lang="en-US" sz="2000" b="0" i="0" dirty="0">
                <a:solidFill>
                  <a:srgbClr val="202124"/>
                </a:solidFill>
                <a:effectLst/>
              </a:rPr>
              <a:t>roup of medical device regulators from around the world that have voluntarily come together to harmonize the regulatory requirements for medical products that vary from country to country.</a:t>
            </a:r>
            <a:endParaRPr lang="en-US" sz="2000" b="1" i="0" dirty="0">
              <a:effectLst/>
            </a:endParaRPr>
          </a:p>
          <a:p>
            <a:r>
              <a:rPr lang="en-US" sz="2000" b="0" i="0" dirty="0">
                <a:effectLst/>
              </a:rPr>
              <a:t>It is a </a:t>
            </a:r>
            <a:r>
              <a:rPr lang="en-US" sz="2000" b="1" i="0" dirty="0">
                <a:effectLst/>
              </a:rPr>
              <a:t>software intended to be used for one or more medical purposes </a:t>
            </a:r>
            <a:r>
              <a:rPr lang="en-US" sz="2000" b="0" i="0" dirty="0">
                <a:effectLst/>
              </a:rPr>
              <a:t>that perform these purposes </a:t>
            </a:r>
            <a:r>
              <a:rPr lang="en-US" sz="2000" b="1" i="0" dirty="0">
                <a:effectLst/>
              </a:rPr>
              <a:t>without being part of a hardware medical device</a:t>
            </a:r>
            <a:r>
              <a:rPr lang="en-US" sz="2000" b="0" i="0" dirty="0"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applications of SaMD are </a:t>
            </a:r>
            <a:r>
              <a:rPr lang="en-IN" sz="2000" b="1" dirty="0"/>
              <a:t>not just limited to diagnosis </a:t>
            </a:r>
            <a:r>
              <a:rPr lang="en-IN" sz="2000" dirty="0"/>
              <a:t>but have also made their place in the </a:t>
            </a:r>
            <a:r>
              <a:rPr lang="en-IN" sz="2000" b="1" dirty="0"/>
              <a:t>monitoring and treatment process.</a:t>
            </a:r>
            <a:endParaRPr lang="en-US" sz="2000" b="1" i="0" dirty="0">
              <a:effectLst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Example: 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>
                <a:effectLst/>
              </a:rPr>
              <a:t>Software that is processing a patient image to detect diseases like cancer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>
                <a:effectLst/>
              </a:rPr>
              <a:t>EEG Analysis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>
                <a:effectLst/>
              </a:rPr>
              <a:t>Software that regulates an installed medical device, a pacema</a:t>
            </a:r>
            <a:r>
              <a:rPr lang="en-US" sz="2000" b="0" i="0" dirty="0">
                <a:solidFill>
                  <a:srgbClr val="303735"/>
                </a:solidFill>
                <a:effectLst/>
              </a:rPr>
              <a:t>ker.</a:t>
            </a:r>
            <a:endParaRPr lang="en-US" sz="2000" b="0" i="0" dirty="0">
              <a:effectLst/>
            </a:endParaRPr>
          </a:p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AutoShape 2" descr="Image result for samd">
            <a:extLst>
              <a:ext uri="{FF2B5EF4-FFF2-40B4-BE49-F238E27FC236}">
                <a16:creationId xmlns:a16="http://schemas.microsoft.com/office/drawing/2014/main" id="{040733EA-0C51-4E12-AC6E-BA50C2DD0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703" y="3429000"/>
            <a:ext cx="3038590" cy="21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I</a:t>
            </a:r>
            <a:r>
              <a:rPr lang="en-US" sz="2200" b="1" i="0" dirty="0">
                <a:effectLst/>
              </a:rPr>
              <a:t>nput data source </a:t>
            </a:r>
            <a:r>
              <a:rPr lang="en-US" sz="2200" b="0" i="0" dirty="0">
                <a:effectLst/>
              </a:rPr>
              <a:t>for SaMD could be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Medical devices,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Lab results, 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medical images,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IVD instrument results,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Human body Vital signs,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M</a:t>
            </a:r>
            <a:r>
              <a:rPr lang="en-US" sz="2200" b="0" i="0" dirty="0">
                <a:effectLst/>
              </a:rPr>
              <a:t>edication,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P</a:t>
            </a:r>
            <a:r>
              <a:rPr lang="en-US" sz="2200" b="0" i="0" dirty="0">
                <a:effectLst/>
              </a:rPr>
              <a:t>atient demography, </a:t>
            </a:r>
          </a:p>
          <a:p>
            <a:pPr marL="463550" indent="-238125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Allergies etc.</a:t>
            </a:r>
          </a:p>
          <a:p>
            <a:pPr>
              <a:lnSpc>
                <a:spcPct val="150000"/>
              </a:lnSpc>
            </a:pPr>
            <a:r>
              <a:rPr lang="en-US" sz="2200" b="0" i="0" dirty="0">
                <a:effectLst/>
              </a:rPr>
              <a:t>SaMD can have </a:t>
            </a:r>
            <a:r>
              <a:rPr lang="en-US" sz="2200" b="1" i="0" dirty="0">
                <a:effectLst/>
              </a:rPr>
              <a:t>algorithm to process this </a:t>
            </a:r>
            <a:r>
              <a:rPr lang="en-US" sz="2200" b="0" i="0" dirty="0">
                <a:effectLst/>
              </a:rPr>
              <a:t>and provide </a:t>
            </a:r>
            <a:r>
              <a:rPr lang="en-US" sz="2200" b="1" i="0" dirty="0">
                <a:effectLst/>
              </a:rPr>
              <a:t>output that could be used for medical purpose</a:t>
            </a:r>
            <a:r>
              <a:rPr lang="en-US" sz="2200" b="0" i="0" dirty="0">
                <a:effectLst/>
              </a:rPr>
              <a:t> (Inform, Drive, Diagnose, Treat).</a:t>
            </a:r>
            <a:endParaRPr lang="en-US" sz="22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C3084-BD57-43CD-82F0-31FFF1CF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04" y="1648046"/>
            <a:ext cx="7097106" cy="318976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160F0EE-54A2-4CE3-B5C7-4D7A161F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03768"/>
            <a:ext cx="414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SaMD (</a:t>
            </a:r>
            <a:r>
              <a:rPr lang="pt-BR" sz="2000" b="1" dirty="0"/>
              <a:t>Software as a Medical Device)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457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6331-847D-45BE-BC54-A92B6CE0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Classification of SaMD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A9CB-FD0D-40FD-8084-CE812E9F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dirty="0">
                <a:effectLst/>
              </a:rPr>
              <a:t>SaMD can be classified based on following two criteria:</a:t>
            </a:r>
          </a:p>
          <a:p>
            <a:pPr marL="457200" lvl="1" indent="0">
              <a:buNone/>
            </a:pPr>
            <a:r>
              <a:rPr lang="en-US" sz="1800" b="1" i="0" dirty="0">
                <a:effectLst/>
              </a:rPr>
              <a:t>1) Based on the type of information provided by the device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treatment or diagnosis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driving clinical management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informing clinical management</a:t>
            </a:r>
          </a:p>
          <a:p>
            <a:pPr marL="914400" lvl="2" indent="0">
              <a:buNone/>
            </a:pPr>
            <a:endParaRPr lang="en-US" sz="1800" dirty="0"/>
          </a:p>
          <a:p>
            <a:pPr marL="1200150" lvl="2" indent="-285750"/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C6718-52C1-442C-B9B4-7673EF75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936" y="1810406"/>
            <a:ext cx="6272664" cy="41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4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871C-A32C-4DDA-9A97-C2A212A0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1800" b="1" dirty="0"/>
              <a:t>2) Based on the impact on treatment</a:t>
            </a:r>
          </a:p>
          <a:p>
            <a:pPr marL="1200150" lvl="2" indent="-285750"/>
            <a:r>
              <a:rPr lang="en-US" sz="1800" dirty="0"/>
              <a:t>Critical</a:t>
            </a:r>
          </a:p>
          <a:p>
            <a:pPr marL="1200150" lvl="2" indent="-285750"/>
            <a:r>
              <a:rPr lang="en-US" sz="1800" dirty="0"/>
              <a:t>Serious</a:t>
            </a:r>
          </a:p>
          <a:p>
            <a:pPr marL="1200150" lvl="2" indent="-285750"/>
            <a:r>
              <a:rPr lang="en-US" sz="1800" dirty="0"/>
              <a:t>Non-serious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4E7B3-FB19-48DE-8946-2BE9A95A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777" y="1329070"/>
            <a:ext cx="7570136" cy="528891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4AFF5A3-739C-4F51-8B25-54A86D91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US" sz="2000" b="1" dirty="0"/>
              <a:t>Classification of SaMD</a:t>
            </a:r>
          </a:p>
        </p:txBody>
      </p:sp>
    </p:spTree>
    <p:extLst>
      <p:ext uri="{BB962C8B-B14F-4D97-AF65-F5344CB8AC3E}">
        <p14:creationId xmlns:p14="http://schemas.microsoft.com/office/powerpoint/2010/main" val="313057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E017-439A-4D13-A000-14C5235F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SaMD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6A15-10E1-4850-956E-2C192E7C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820144"/>
          </a:xfrm>
        </p:spPr>
        <p:txBody>
          <a:bodyPr>
            <a:noAutofit/>
          </a:bodyPr>
          <a:lstStyle/>
          <a:p>
            <a:r>
              <a:rPr lang="en-US" sz="2000" dirty="0"/>
              <a:t>There are 4 categories </a:t>
            </a:r>
            <a:r>
              <a:rPr lang="en-US" sz="2000" b="1" dirty="0"/>
              <a:t>( I, II, III , IV ) </a:t>
            </a:r>
            <a:r>
              <a:rPr lang="en-US" sz="2000" dirty="0"/>
              <a:t>based on the level of impact on the patient's health.</a:t>
            </a:r>
          </a:p>
          <a:p>
            <a:r>
              <a:rPr lang="en-US" sz="2000" b="1" dirty="0"/>
              <a:t>Category IV is the highest </a:t>
            </a:r>
            <a:r>
              <a:rPr lang="en-US" sz="2000" dirty="0"/>
              <a:t>level of impact and  </a:t>
            </a:r>
            <a:r>
              <a:rPr lang="en-US" sz="2000" b="1" dirty="0"/>
              <a:t>Category I is the lowest.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Category IV –</a:t>
            </a:r>
            <a:r>
              <a:rPr lang="en-US" sz="2000" b="0" i="0" dirty="0">
                <a:effectLst/>
              </a:rPr>
              <a:t> Provides information for the treatment </a:t>
            </a:r>
            <a:r>
              <a:rPr lang="en-US" sz="2000" dirty="0"/>
              <a:t>/</a:t>
            </a:r>
            <a:r>
              <a:rPr lang="en-US" sz="2000" b="0" i="0" dirty="0">
                <a:effectLst/>
              </a:rPr>
              <a:t> diagnosis of diseases or conditions that are </a:t>
            </a:r>
            <a:r>
              <a:rPr lang="en-US" sz="2000" b="1" i="0" dirty="0">
                <a:effectLst/>
              </a:rPr>
              <a:t>critical and are considered “very high impact”</a:t>
            </a:r>
          </a:p>
          <a:p>
            <a:pPr marL="457200" lvl="1" indent="0">
              <a:buNone/>
            </a:pPr>
            <a:r>
              <a:rPr lang="en-US" sz="2000" b="1" dirty="0"/>
              <a:t>Example : </a:t>
            </a:r>
            <a:r>
              <a:rPr lang="en-US" sz="2000" dirty="0"/>
              <a:t>	SaMD that functions as a heart monitor with Atrial Fibrillation diagnostic capability </a:t>
            </a:r>
          </a:p>
          <a:p>
            <a:pPr marL="457200" lvl="1" indent="0">
              <a:buNone/>
            </a:pPr>
            <a:r>
              <a:rPr lang="en-US" sz="2000" dirty="0"/>
              <a:t>		SaMD that performs analysis of cerebrospinal fluid spectroscopy data to diagnose 			tuberculosis meningitis or viral meningitis in children</a:t>
            </a:r>
          </a:p>
          <a:p>
            <a:pPr marL="457200" lvl="1" indent="0">
              <a:buNone/>
            </a:pPr>
            <a:endParaRPr lang="en-US" sz="1800" b="1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E92F9-2D2A-4B5F-9C85-4A8794EA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71" y="1873171"/>
            <a:ext cx="8679728" cy="232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5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0564-1820-4A43-B70F-59372CC38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i="0" dirty="0">
                <a:effectLst/>
              </a:rPr>
              <a:t>Category III –</a:t>
            </a:r>
            <a:r>
              <a:rPr lang="en-US" sz="2000" b="0" i="0" dirty="0">
                <a:effectLst/>
              </a:rPr>
              <a:t> Provides information for the treatment / diagnosis of diseases or conditions that are </a:t>
            </a:r>
            <a:r>
              <a:rPr lang="en-US" sz="2000" b="1" i="0" dirty="0">
                <a:effectLst/>
              </a:rPr>
              <a:t>serious and are considered “high impact”</a:t>
            </a:r>
          </a:p>
          <a:p>
            <a:pPr marL="457200" lvl="1" indent="0">
              <a:buNone/>
            </a:pPr>
            <a:r>
              <a:rPr lang="en-US" sz="2000" b="1" dirty="0"/>
              <a:t>Example :	</a:t>
            </a:r>
            <a:r>
              <a:rPr lang="en-US" sz="2000" dirty="0"/>
              <a:t>SaMD that uses the microphone of a smart device to detect interrupted breathing  		         	during sleep and sounds a tone to rouse the sleeper.</a:t>
            </a:r>
          </a:p>
          <a:p>
            <a:pPr marL="457200" lvl="1" indent="0">
              <a:buNone/>
            </a:pPr>
            <a:r>
              <a:rPr lang="en-US" sz="2000" dirty="0"/>
              <a:t>	          	SaMD that uses data from individuals for predicting risk score in high-risk population for 	         		developing breast cancer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Category II –</a:t>
            </a:r>
            <a:r>
              <a:rPr lang="en-US" sz="2000" b="0" i="0" dirty="0">
                <a:effectLst/>
              </a:rPr>
              <a:t> Provides information for the treatment / diagnosis of diseases or conditions that are </a:t>
            </a:r>
            <a:r>
              <a:rPr lang="en-US" sz="2000" b="1" i="0" dirty="0">
                <a:effectLst/>
              </a:rPr>
              <a:t>non-serious and are considered “moderate impact</a:t>
            </a:r>
            <a:r>
              <a:rPr lang="en-US" sz="2000" b="0" i="0" dirty="0">
                <a:effectLst/>
              </a:rPr>
              <a:t>”</a:t>
            </a:r>
          </a:p>
          <a:p>
            <a:pPr marL="457200" lvl="1" indent="0">
              <a:buNone/>
            </a:pPr>
            <a:r>
              <a:rPr lang="en-US" sz="2000" b="1" dirty="0"/>
              <a:t>Example:</a:t>
            </a:r>
            <a:r>
              <a:rPr lang="en-US" sz="2000" dirty="0"/>
              <a:t>	SaMD that analyzes heart rate data intended for a clinician as an aid in diagnosis of 			arrhythmia.</a:t>
            </a:r>
          </a:p>
          <a:p>
            <a:pPr marL="457200" lvl="1" indent="0">
              <a:buNone/>
            </a:pPr>
            <a:r>
              <a:rPr lang="en-US" sz="2000" b="1" i="0" dirty="0">
                <a:effectLst/>
              </a:rPr>
              <a:t>	          	</a:t>
            </a:r>
            <a:r>
              <a:rPr lang="en-US" sz="2000" dirty="0"/>
              <a:t>SaMD that helps diabetic patients by calculating bolus insulin dose based on activities 			reported to adjust carbohydrate ratio and basal insulin. </a:t>
            </a:r>
            <a:r>
              <a:rPr lang="en-US" sz="2000" b="0" i="0" dirty="0">
                <a:effectLst/>
              </a:rPr>
              <a:t>	     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Category I –</a:t>
            </a:r>
            <a:r>
              <a:rPr lang="en-US" sz="2000" b="0" i="0" dirty="0">
                <a:effectLst/>
              </a:rPr>
              <a:t> Provides information for the clinical management of diseases that are </a:t>
            </a:r>
            <a:r>
              <a:rPr lang="en-US" sz="2000" b="1" i="0" dirty="0">
                <a:effectLst/>
              </a:rPr>
              <a:t>non-serious and are considered “low impact”</a:t>
            </a:r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b="1" dirty="0"/>
              <a:t>Example:</a:t>
            </a:r>
            <a:r>
              <a:rPr lang="en-US" sz="2000" dirty="0"/>
              <a:t>	SaMD that collects fetus movement or development.</a:t>
            </a:r>
          </a:p>
          <a:p>
            <a:pPr marL="0" indent="0">
              <a:buNone/>
            </a:pPr>
            <a:r>
              <a:rPr lang="en-US" sz="2000" dirty="0"/>
              <a:t>		SaMD that collects information for control of conception, in IVF.</a:t>
            </a:r>
            <a:endParaRPr lang="en-US" sz="2000" b="1" i="0" dirty="0">
              <a:effectLst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A725B5-CCFA-4CA0-A606-03F2C139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US" sz="2000" b="1" dirty="0"/>
              <a:t>SaMD Categories</a:t>
            </a:r>
          </a:p>
        </p:txBody>
      </p:sp>
    </p:spTree>
    <p:extLst>
      <p:ext uri="{BB962C8B-B14F-4D97-AF65-F5344CB8AC3E}">
        <p14:creationId xmlns:p14="http://schemas.microsoft.com/office/powerpoint/2010/main" val="178292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E95A-35DC-4816-9196-8E60EB81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2000" b="1" i="0" dirty="0">
                <a:solidFill>
                  <a:schemeClr val="tx1"/>
                </a:solidFill>
                <a:effectLst/>
              </a:rPr>
              <a:t>)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4766-799B-445A-AC48-7E7B2267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is a software that is part of functioning of a medical device.</a:t>
            </a:r>
          </a:p>
          <a:p>
            <a:r>
              <a:rPr lang="en-US" sz="2000" dirty="0"/>
              <a:t>It does not have a medical purpose independent of a medical device with hardware components.</a:t>
            </a:r>
          </a:p>
          <a:p>
            <a:r>
              <a:rPr lang="en-US" sz="2000" dirty="0"/>
              <a:t>Purely embedded software within medical equipment , includes desktop, mobile and cloud software.</a:t>
            </a:r>
          </a:p>
          <a:p>
            <a:r>
              <a:rPr lang="en-US" sz="2000" b="0" i="0" dirty="0">
                <a:effectLst/>
              </a:rPr>
              <a:t>The fact that you cannot use the medical device without this software, makes it SiMD.</a:t>
            </a:r>
            <a:endParaRPr lang="en-US" sz="2000" dirty="0"/>
          </a:p>
          <a:p>
            <a:r>
              <a:rPr lang="en-US" sz="2000" b="1" dirty="0"/>
              <a:t>Example: </a:t>
            </a:r>
          </a:p>
          <a:p>
            <a:pPr lvl="1"/>
            <a:r>
              <a:rPr lang="en-US" sz="2000" dirty="0"/>
              <a:t>Software within mobile applications that control a medical device through Bluetooth, Wi-Fi or other functionality.</a:t>
            </a:r>
          </a:p>
          <a:p>
            <a:pPr lvl="1"/>
            <a:r>
              <a:rPr lang="en-US" sz="2000" dirty="0"/>
              <a:t>Embedded software that operates a pacemaker.</a:t>
            </a:r>
          </a:p>
          <a:p>
            <a:pPr lvl="1"/>
            <a:r>
              <a:rPr lang="en-US" sz="2000" dirty="0"/>
              <a:t>Mobile application which is an interface for reading waveforms</a:t>
            </a:r>
            <a:r>
              <a:rPr lang="en-US" sz="1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F4C0E-0C82-4069-98E2-9A91C4FD8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643" b="17308"/>
          <a:stretch/>
        </p:blipFill>
        <p:spPr>
          <a:xfrm>
            <a:off x="2166827" y="4497573"/>
            <a:ext cx="8412568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9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sz="2400" b="1" dirty="0"/>
              <a:t>IEC 15408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Common Criteria for Information Technology Security Evaluation)</a:t>
            </a:r>
            <a:r>
              <a:rPr lang="en-IN" sz="2400" b="1" dirty="0"/>
              <a:t> </a:t>
            </a:r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46457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350E-2346-431C-8761-DEF96540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IEC 15408 (</a:t>
            </a:r>
            <a:r>
              <a:rPr lang="en-US" sz="2000" b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Common Criteria for Information Technology Security Evaluation)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BC1AB-458B-4629-80EF-24920FDC6987}"/>
              </a:ext>
            </a:extLst>
          </p:cNvPr>
          <p:cNvSpPr txBox="1"/>
          <p:nvPr/>
        </p:nvSpPr>
        <p:spPr>
          <a:xfrm>
            <a:off x="539601" y="826264"/>
            <a:ext cx="7105207" cy="5497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Also referred to as Common Criteria (CC) i.e., for </a:t>
            </a:r>
            <a:r>
              <a:rPr lang="en-US" sz="20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computer security</a:t>
            </a: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certification.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Current version </a:t>
            </a:r>
            <a:r>
              <a:rPr lang="en-US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3.1</a:t>
            </a:r>
            <a:r>
              <a:rPr lang="en-US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revision </a:t>
            </a:r>
            <a:r>
              <a:rPr lang="en-US" sz="20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5 </a:t>
            </a:r>
            <a:r>
              <a:rPr lang="en-US" sz="2000" b="1" dirty="0">
                <a:ea typeface="Calibri" panose="020F0502020204030204" pitchFamily="34" charset="0"/>
                <a:cs typeface="Arial" panose="020B0604020202020204" pitchFamily="34" charset="0"/>
              </a:rPr>
              <a:t>(2015).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Designed for </a:t>
            </a:r>
            <a:r>
              <a:rPr lang="en-US" sz="2000" dirty="0"/>
              <a:t>products - </a:t>
            </a:r>
            <a:r>
              <a:rPr lang="en-US" sz="2000" b="1" dirty="0"/>
              <a:t>highly security-intensive markets</a:t>
            </a:r>
            <a:r>
              <a:rPr lang="en-US" sz="2000" dirty="0"/>
              <a:t>, such as governmental, banking, or military sectors.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dirty="0"/>
              <a:t>It is a framework where users can specify their Security functional / Assurance requirements (SFR/ SAR) in a Security target (ST) taken from a Protection profile (PP).</a:t>
            </a:r>
            <a:endParaRPr lang="en-IN" sz="2000" dirty="0"/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/>
              <a:t>N</a:t>
            </a:r>
            <a:r>
              <a:rPr lang="en-US" sz="2000" b="0" i="0" dirty="0">
                <a:effectLst/>
              </a:rPr>
              <a:t>etwork system users can </a:t>
            </a:r>
            <a:r>
              <a:rPr lang="en-US" sz="2000" b="1" i="0" dirty="0">
                <a:effectLst/>
              </a:rPr>
              <a:t>define their cybersecurity functional and assurance needs</a:t>
            </a:r>
            <a:r>
              <a:rPr lang="en-US" sz="2000" b="0" i="0" dirty="0">
                <a:effectLst/>
              </a:rPr>
              <a:t>.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B67BF5-84CC-42E6-9A5C-45B782A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43" y="1204059"/>
            <a:ext cx="3118982" cy="271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3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370E08-DAB4-4E3E-87B7-A3CEFAED0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006" y="814542"/>
            <a:ext cx="7449520" cy="57697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6C3E34E-5DC3-4F3B-8D77-B80358D7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IEC 15408- Market acceptability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7897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With the support of a third party contracted laboratory, </a:t>
            </a:r>
            <a:r>
              <a:rPr lang="en-US" sz="2000" b="1" dirty="0"/>
              <a:t>Common Criteria evaluations </a:t>
            </a:r>
            <a:r>
              <a:rPr lang="en-US" sz="2000" dirty="0"/>
              <a:t>of computer security products and systems are </a:t>
            </a:r>
            <a:r>
              <a:rPr lang="en-US" sz="2000" b="1" dirty="0"/>
              <a:t>performed</a:t>
            </a:r>
            <a:r>
              <a:rPr lang="en-US" sz="2000" dirty="0"/>
              <a:t>.</a:t>
            </a:r>
            <a:endParaRPr lang="en-IN" sz="2000" dirty="0"/>
          </a:p>
          <a:p>
            <a:pPr lvl="1"/>
            <a:r>
              <a:rPr lang="en-US" sz="2000" dirty="0"/>
              <a:t>The partner laboratory must first </a:t>
            </a:r>
            <a:r>
              <a:rPr lang="en-US" sz="2000" b="1" dirty="0"/>
              <a:t>define a target of evaluation (TOE) </a:t>
            </a:r>
            <a:r>
              <a:rPr lang="en-US" sz="2000" dirty="0"/>
              <a:t>allowing for further assessment and documentation.</a:t>
            </a:r>
            <a:endParaRPr lang="en-IN" sz="2000" dirty="0"/>
          </a:p>
          <a:p>
            <a:pPr lvl="1"/>
            <a:r>
              <a:rPr lang="en-US" sz="2000" dirty="0"/>
              <a:t>Upon completion of the documentation review and a thorough CC evaluation, IT </a:t>
            </a:r>
            <a:r>
              <a:rPr lang="en-US" sz="2000" b="1" dirty="0"/>
              <a:t>product security certification </a:t>
            </a:r>
            <a:r>
              <a:rPr lang="en-US" sz="2000" dirty="0"/>
              <a:t>is provided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762" y="2866178"/>
            <a:ext cx="6128166" cy="33237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5E1747-7079-4C34-8EED-4D16BD42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Evaluation procedure for Common Criteria (IEC 15408)</a:t>
            </a:r>
          </a:p>
        </p:txBody>
      </p:sp>
    </p:spTree>
    <p:extLst>
      <p:ext uri="{BB962C8B-B14F-4D97-AF65-F5344CB8AC3E}">
        <p14:creationId xmlns:p14="http://schemas.microsoft.com/office/powerpoint/2010/main" val="179769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IEC 15408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88999"/>
            <a:ext cx="3761563" cy="317656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/>
              <a:t>TOE (target of evaluation):</a:t>
            </a:r>
            <a:r>
              <a:rPr lang="en-US" sz="2000" dirty="0"/>
              <a:t> </a:t>
            </a:r>
          </a:p>
          <a:p>
            <a:pPr lvl="1">
              <a:lnSpc>
                <a:spcPct val="160000"/>
              </a:lnSpc>
            </a:pPr>
            <a:r>
              <a:rPr lang="en-US" sz="2000" dirty="0"/>
              <a:t>The product or system that is the </a:t>
            </a:r>
            <a:r>
              <a:rPr lang="en-US" sz="2000" b="1" dirty="0"/>
              <a:t>subject of the evaluation</a:t>
            </a:r>
            <a:r>
              <a:rPr lang="en-US" sz="2000" dirty="0"/>
              <a:t>.</a:t>
            </a:r>
            <a:endParaRPr lang="en-IN" sz="2000" dirty="0"/>
          </a:p>
          <a:p>
            <a:pPr lvl="1">
              <a:lnSpc>
                <a:spcPct val="160000"/>
              </a:lnSpc>
            </a:pPr>
            <a:r>
              <a:rPr lang="en-US" sz="2000" dirty="0"/>
              <a:t>It is the product to be tested.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070" t="1497" r="4476" b="2784"/>
          <a:stretch/>
        </p:blipFill>
        <p:spPr>
          <a:xfrm>
            <a:off x="4351824" y="1026286"/>
            <a:ext cx="7088808" cy="516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3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4897120" cy="5588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Protection Profile (PP) : </a:t>
            </a:r>
            <a:r>
              <a:rPr lang="en-IN" sz="2000" b="1" dirty="0"/>
              <a:t>(</a:t>
            </a:r>
            <a:r>
              <a:rPr lang="en-US" sz="2000" b="1" dirty="0"/>
              <a:t>TYPE OF PRODUCT)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It </a:t>
            </a:r>
            <a:r>
              <a:rPr lang="en-US" sz="2000" b="1" dirty="0"/>
              <a:t>identifies security requirements</a:t>
            </a:r>
            <a:r>
              <a:rPr lang="en-US" sz="2000" dirty="0"/>
              <a:t> for a class of security   devices (e.g., smart cards used to provide digital signatures, or network firewalls) to the user.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Description about the needed security solutions.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PP serves as a </a:t>
            </a:r>
            <a:r>
              <a:rPr lang="en-US" sz="2000" b="1" dirty="0"/>
              <a:t>template</a:t>
            </a:r>
            <a:r>
              <a:rPr lang="en-US" sz="2000" dirty="0"/>
              <a:t>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A document </a:t>
            </a:r>
            <a:r>
              <a:rPr lang="en-US" sz="2000" b="1" dirty="0"/>
              <a:t>created by a user/ user community</a:t>
            </a:r>
            <a:r>
              <a:rPr lang="en-US" sz="2000" dirty="0"/>
              <a:t>.</a:t>
            </a:r>
            <a:endParaRPr lang="en-IN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727" t="4014" r="4088" b="17082"/>
          <a:stretch/>
        </p:blipFill>
        <p:spPr>
          <a:xfrm>
            <a:off x="5303520" y="1070122"/>
            <a:ext cx="6801591" cy="48988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71CB320-8B6A-424D-8320-99261783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IEC 15408 Components</a:t>
            </a:r>
          </a:p>
        </p:txBody>
      </p:sp>
    </p:spTree>
    <p:extLst>
      <p:ext uri="{BB962C8B-B14F-4D97-AF65-F5344CB8AC3E}">
        <p14:creationId xmlns:p14="http://schemas.microsoft.com/office/powerpoint/2010/main" val="1925213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4144335" cy="55880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Security Target: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It is a document </a:t>
            </a:r>
            <a:r>
              <a:rPr lang="en-US" sz="2000" b="1" dirty="0"/>
              <a:t>that identifies the security </a:t>
            </a:r>
            <a:r>
              <a:rPr lang="en-US" sz="2000" b="1" i="1" dirty="0"/>
              <a:t>properties</a:t>
            </a:r>
            <a:r>
              <a:rPr lang="en-US" sz="2000" dirty="0"/>
              <a:t> of the target of evaluation.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Allows to make changes for the evaluation to accurately match the intended capabilities / requirements of their product.</a:t>
            </a: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264" r="9006" b="12884"/>
          <a:stretch/>
        </p:blipFill>
        <p:spPr>
          <a:xfrm>
            <a:off x="4720856" y="887915"/>
            <a:ext cx="6599220" cy="55890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2703A56-4926-4884-AD80-3F92F9DE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IEC 15408 Components</a:t>
            </a:r>
          </a:p>
        </p:txBody>
      </p:sp>
    </p:spTree>
    <p:extLst>
      <p:ext uri="{BB962C8B-B14F-4D97-AF65-F5344CB8AC3E}">
        <p14:creationId xmlns:p14="http://schemas.microsoft.com/office/powerpoint/2010/main" val="1500782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IEC 15408 : </a:t>
            </a:r>
            <a:r>
              <a:rPr lang="en-US" sz="2000" b="1" dirty="0"/>
              <a:t>Quality Assurance processes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5417625" cy="55880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The Evaluation Assurance Level (EAL</a:t>
            </a:r>
            <a:r>
              <a:rPr lang="en-US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Numerical rating</a:t>
            </a:r>
            <a:r>
              <a:rPr lang="en-US" sz="2000" dirty="0"/>
              <a:t> used to describe the depth and rigor of a CC evaluation.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Seven EAL’s from </a:t>
            </a:r>
            <a:r>
              <a:rPr lang="en-US" sz="2000" b="1" dirty="0"/>
              <a:t>EAL 1-7</a:t>
            </a:r>
            <a:r>
              <a:rPr lang="en-US" sz="2000" dirty="0"/>
              <a:t> (low security to high security).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Each EAL is </a:t>
            </a:r>
            <a:r>
              <a:rPr lang="en-US" sz="2000" b="1" dirty="0"/>
              <a:t>corresponded to a package of security assurance requirements </a:t>
            </a:r>
            <a:r>
              <a:rPr lang="en-US" sz="2000" dirty="0"/>
              <a:t>for the development of the product.</a:t>
            </a:r>
            <a:endParaRPr lang="en-IN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02185"/>
              </p:ext>
            </p:extLst>
          </p:nvPr>
        </p:nvGraphicFramePr>
        <p:xfrm>
          <a:off x="5901070" y="889000"/>
          <a:ext cx="5797769" cy="45516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EAL</a:t>
                      </a:r>
                      <a:r>
                        <a:rPr lang="en-US" sz="1800" dirty="0">
                          <a:effectLst/>
                        </a:rPr>
                        <a:t> 1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Functionally tested (Black Box)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93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EAL 2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Structurally tested (Black &amp; White Box)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EAL</a:t>
                      </a:r>
                      <a:r>
                        <a:rPr lang="en-US" sz="1800" dirty="0">
                          <a:effectLst/>
                        </a:rPr>
                        <a:t> 3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Methodically tested and checked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EAL 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Methodically designed, tested, and reviewed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EAL 5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Semi formally designed and tested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EAL 6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Semi formally verified, designed, and tested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29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EAL 7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Formally verified, designed, and tested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496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sz="2400" b="1" dirty="0"/>
              <a:t>IEC 62443 (</a:t>
            </a:r>
            <a:r>
              <a:rPr lang="en-US" sz="2400" b="1" dirty="0"/>
              <a:t>S</a:t>
            </a:r>
            <a:r>
              <a:rPr lang="en-US" sz="2400" b="1" i="0" dirty="0">
                <a:effectLst/>
              </a:rPr>
              <a:t>ecure Industrial Automation and Control Systems (IACS)</a:t>
            </a:r>
            <a:r>
              <a:rPr lang="en-IN" sz="2400" b="1" dirty="0"/>
              <a:t>)</a:t>
            </a:r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08437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IEC 62443 (</a:t>
            </a:r>
            <a:r>
              <a:rPr lang="en-US" sz="2000" b="1" dirty="0">
                <a:latin typeface="Source Sans Pro" panose="020B0503030403020204" pitchFamily="34" charset="0"/>
              </a:rPr>
              <a:t>S</a:t>
            </a:r>
            <a:r>
              <a:rPr lang="en-US" sz="2000" b="1" i="0" dirty="0">
                <a:effectLst/>
                <a:latin typeface="Source Sans Pro" panose="020B0503030403020204" pitchFamily="34" charset="0"/>
              </a:rPr>
              <a:t>ecure Industrial Automation and Control Systems (IACS) )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Developed by </a:t>
            </a:r>
            <a:r>
              <a:rPr lang="en-US" sz="2000" b="1" i="0" dirty="0">
                <a:effectLst/>
              </a:rPr>
              <a:t>The International Society of Automation</a:t>
            </a:r>
            <a:r>
              <a:rPr lang="en-US" sz="2000" b="1" dirty="0"/>
              <a:t> (ISA99) committee.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en-US" sz="2000" b="1" dirty="0"/>
              <a:t>Adopted by the International Electrotechnical Commission (IEC).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Current edition -1 (2018).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helps organizations to reduce both </a:t>
            </a:r>
          </a:p>
          <a:p>
            <a:pPr marL="1377950" indent="-4635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 risk of system failure and </a:t>
            </a:r>
          </a:p>
          <a:p>
            <a:pPr marL="1377950" indent="-4635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 exposure to cyber threats.</a:t>
            </a:r>
            <a:endParaRPr lang="en-IN" sz="2000" dirty="0"/>
          </a:p>
          <a:p>
            <a:pPr lvl="0">
              <a:lnSpc>
                <a:spcPct val="150000"/>
              </a:lnSpc>
            </a:pPr>
            <a:r>
              <a:rPr lang="en-US" sz="2000" dirty="0"/>
              <a:t>Main security objectives of IEC 62443 are in-depth defense.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i.e., taking low level requirements and extending security to other areas to consider different attacks. </a:t>
            </a:r>
          </a:p>
          <a:p>
            <a:pPr marL="0" lvl="0" indent="0">
              <a:buNone/>
            </a:pP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29597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IEC 62443 : Fundamental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sz="2000" dirty="0"/>
              <a:t>The seven fundamental requirements of the IEC 62443 standard: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b="1" dirty="0"/>
              <a:t>Identify and authenticate all users </a:t>
            </a:r>
            <a:r>
              <a:rPr lang="en-US" sz="2000" dirty="0"/>
              <a:t>(people, software processes and devices) before authorizing access to a system.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b="1" dirty="0"/>
              <a:t>Control use </a:t>
            </a:r>
            <a:r>
              <a:rPr lang="en-US" sz="2000" dirty="0"/>
              <a:t>(enforce the privileges assigned to an authenticated user).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dirty="0"/>
              <a:t>Ensure the </a:t>
            </a:r>
            <a:r>
              <a:rPr lang="en-US" sz="2000" b="1" dirty="0"/>
              <a:t>integrity of data, software, and equipment</a:t>
            </a:r>
            <a:r>
              <a:rPr lang="en-US" sz="2000" dirty="0"/>
              <a:t>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dirty="0"/>
              <a:t>Ensure the </a:t>
            </a:r>
            <a:r>
              <a:rPr lang="en-US" sz="2000" b="1" dirty="0"/>
              <a:t>confidentiality of information </a:t>
            </a:r>
            <a:r>
              <a:rPr lang="en-US" sz="2000" dirty="0"/>
              <a:t>in data flows, and in data storage spaces.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dirty="0"/>
              <a:t>Restrict </a:t>
            </a:r>
            <a:r>
              <a:rPr lang="en-US" sz="2000" b="1" dirty="0"/>
              <a:t>unnecessary data flows</a:t>
            </a:r>
            <a:r>
              <a:rPr lang="en-US" sz="2000" dirty="0"/>
              <a:t>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dirty="0"/>
              <a:t>Respond to attacks by </a:t>
            </a:r>
            <a:r>
              <a:rPr lang="en-US" sz="2000" b="1" dirty="0"/>
              <a:t>informing the competent authority </a:t>
            </a:r>
            <a:r>
              <a:rPr lang="en-US" sz="2000" dirty="0"/>
              <a:t>in a timely manner.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dirty="0"/>
              <a:t>Ensure that the </a:t>
            </a:r>
            <a:r>
              <a:rPr lang="en-US" sz="2000" b="1" dirty="0"/>
              <a:t>system is resilient </a:t>
            </a:r>
            <a:r>
              <a:rPr lang="en-US" sz="2000" dirty="0"/>
              <a:t>against a DDoS attack.</a:t>
            </a:r>
            <a:endParaRPr lang="en-IN" sz="20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60886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/>
              <a:t>ISA/ IEC 62443 consists of </a:t>
            </a:r>
            <a:r>
              <a:rPr lang="en-US" sz="2000" b="1" dirty="0"/>
              <a:t>14 documents </a:t>
            </a:r>
            <a:r>
              <a:rPr lang="en-US" sz="2000" dirty="0"/>
              <a:t>divided into </a:t>
            </a:r>
            <a:r>
              <a:rPr lang="en-US" sz="2000" b="1" dirty="0"/>
              <a:t>4 groups</a:t>
            </a:r>
            <a:r>
              <a:rPr lang="en-US" sz="2000" dirty="0"/>
              <a:t>: </a:t>
            </a: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71" y="1249939"/>
            <a:ext cx="8366274" cy="550886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6787325-EBF8-4D35-9AE8-7447B4F0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IEC 62443 : Division </a:t>
            </a:r>
          </a:p>
        </p:txBody>
      </p:sp>
    </p:spTree>
    <p:extLst>
      <p:ext uri="{BB962C8B-B14F-4D97-AF65-F5344CB8AC3E}">
        <p14:creationId xmlns:p14="http://schemas.microsoft.com/office/powerpoint/2010/main" val="696981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The key standards in the IEC 62443 series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u="sng" dirty="0"/>
              <a:t> IEC 62443-4-1 ( Secure development lifecycle requirements ) (2018)</a:t>
            </a:r>
          </a:p>
          <a:p>
            <a:r>
              <a:rPr lang="en-IN" sz="2000" dirty="0"/>
              <a:t>Specifies process requirements for the secure development of products.</a:t>
            </a:r>
          </a:p>
          <a:p>
            <a:r>
              <a:rPr lang="en-IN" sz="2000" dirty="0"/>
              <a:t>Lifecycle includes security requirements definition, secure design, secure implementation (including coding guidelines), verification and validation, defect management, patch management and product end-of-life.</a:t>
            </a:r>
          </a:p>
          <a:p>
            <a:r>
              <a:rPr lang="en-IN" sz="2000" dirty="0"/>
              <a:t>These requirements can be applied to new / existing processes for</a:t>
            </a:r>
          </a:p>
          <a:p>
            <a:pPr marL="0" indent="0">
              <a:buNone/>
            </a:pPr>
            <a:r>
              <a:rPr lang="en-IN" sz="2000" dirty="0"/>
              <a:t>	 - developing</a:t>
            </a:r>
          </a:p>
          <a:p>
            <a:pPr marL="0" indent="0">
              <a:buNone/>
            </a:pPr>
            <a:r>
              <a:rPr lang="en-IN" sz="2000" dirty="0"/>
              <a:t>	 - maintaining</a:t>
            </a:r>
            <a:br>
              <a:rPr lang="en-IN" sz="2000" dirty="0"/>
            </a:br>
            <a:r>
              <a:rPr lang="en-IN" sz="2000" dirty="0"/>
              <a:t>	 - retiring hardware, software, or firmware.</a:t>
            </a:r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endParaRPr lang="en-IN" sz="1800" dirty="0"/>
          </a:p>
        </p:txBody>
      </p:sp>
      <p:pic>
        <p:nvPicPr>
          <p:cNvPr id="2050" name="Picture 2" descr="ISA IEC 62443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139" y="4200261"/>
            <a:ext cx="8178815" cy="17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114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IN" sz="2000" b="1" u="sng" dirty="0"/>
              <a:t>IEC 62443-4-2 ( IACS components security specifications ) (2019)</a:t>
            </a:r>
          </a:p>
          <a:p>
            <a:r>
              <a:rPr lang="en-IN" sz="2000" dirty="0"/>
              <a:t>Current Edition - 1</a:t>
            </a:r>
          </a:p>
          <a:p>
            <a:r>
              <a:rPr lang="en-IN" sz="2000" dirty="0"/>
              <a:t>Provides the cyber security technical requirements for components that make up an IACS.</a:t>
            </a:r>
          </a:p>
          <a:p>
            <a:pPr lvl="1"/>
            <a:r>
              <a:rPr lang="en-IN" sz="2000" dirty="0"/>
              <a:t>Mostly for embedded devices, network components, host components and software applications. </a:t>
            </a:r>
          </a:p>
          <a:p>
            <a:r>
              <a:rPr lang="en-IN" sz="2000" dirty="0"/>
              <a:t>The standard sets forth security capabilities that enable a component to mitigate threats. </a:t>
            </a:r>
          </a:p>
          <a:p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endParaRPr lang="en-IN" sz="1800" dirty="0"/>
          </a:p>
          <a:p>
            <a:pPr marL="0" indent="0">
              <a:buNone/>
            </a:pPr>
            <a:r>
              <a:rPr lang="en-IN" sz="1800" dirty="0"/>
              <a:t> 	</a:t>
            </a:r>
            <a:endParaRPr lang="en-IN" sz="18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B1E5B1-CF09-42A9-BC22-2A862A13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The key standards in the IEC 62443 series</a:t>
            </a:r>
          </a:p>
        </p:txBody>
      </p:sp>
    </p:spTree>
    <p:extLst>
      <p:ext uri="{BB962C8B-B14F-4D97-AF65-F5344CB8AC3E}">
        <p14:creationId xmlns:p14="http://schemas.microsoft.com/office/powerpoint/2010/main" val="547999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IN" sz="2000" b="1" u="sng" dirty="0"/>
              <a:t>IEC 62443-3-3 ( security requirements and the security level ) (2013)</a:t>
            </a:r>
            <a:endParaRPr lang="en-IN" sz="2000" dirty="0"/>
          </a:p>
          <a:p>
            <a:r>
              <a:rPr lang="en-IN" sz="2000" dirty="0"/>
              <a:t>Defines the security assurance levels of the IACS components. </a:t>
            </a:r>
          </a:p>
          <a:p>
            <a:r>
              <a:rPr lang="en-IN" sz="2000" dirty="0"/>
              <a:t>It includes the 4 security levels.</a:t>
            </a:r>
          </a:p>
          <a:p>
            <a:r>
              <a:rPr lang="en-IN" sz="2000" b="1" dirty="0"/>
              <a:t>Level 1 and  Level 2 </a:t>
            </a:r>
            <a:r>
              <a:rPr lang="en-IN" sz="2000" dirty="0"/>
              <a:t>correspond to threats </a:t>
            </a:r>
            <a:r>
              <a:rPr lang="en-IN" sz="2000" b="1" dirty="0"/>
              <a:t>originating from either insiders</a:t>
            </a:r>
            <a:r>
              <a:rPr lang="en-IN" sz="2000" dirty="0"/>
              <a:t>, such as careless or disgruntled employees or contractors, or intruders with low skills and motivation.</a:t>
            </a:r>
          </a:p>
          <a:p>
            <a:r>
              <a:rPr lang="en-IN" sz="2000" b="1" dirty="0"/>
              <a:t>Levels 3 and  Level 4 </a:t>
            </a:r>
            <a:r>
              <a:rPr lang="en-IN" sz="2000" dirty="0"/>
              <a:t>are related to threats from </a:t>
            </a:r>
            <a:r>
              <a:rPr lang="en-IN" sz="2000" b="1" dirty="0"/>
              <a:t>“professional</a:t>
            </a:r>
            <a:r>
              <a:rPr lang="en-IN" sz="2000" dirty="0"/>
              <a:t>” cyber criminals, industrial espionage or state-sponsored malicious actors.</a:t>
            </a:r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144" y="3151809"/>
            <a:ext cx="5432230" cy="34421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88E99F-9C21-488A-8BED-92D010A0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The key standards in the IEC 62443 series</a:t>
            </a:r>
          </a:p>
        </p:txBody>
      </p:sp>
    </p:spTree>
    <p:extLst>
      <p:ext uri="{BB962C8B-B14F-4D97-AF65-F5344CB8AC3E}">
        <p14:creationId xmlns:p14="http://schemas.microsoft.com/office/powerpoint/2010/main" val="861197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lvl="1" indent="-285750">
              <a:spcBef>
                <a:spcPts val="1000"/>
              </a:spcBef>
            </a:pPr>
            <a:r>
              <a:rPr lang="en-IN" sz="2000" dirty="0"/>
              <a:t>In addition, IEC 62443-3-3 defines the security Foundational Requirements,</a:t>
            </a:r>
            <a:endParaRPr lang="en-IN" sz="2000" b="1" u="sng" dirty="0"/>
          </a:p>
          <a:p>
            <a:pPr marL="285750" lvl="1" indent="-285750">
              <a:spcBef>
                <a:spcPts val="1000"/>
              </a:spcBef>
            </a:pPr>
            <a:r>
              <a:rPr lang="en-IN" sz="2000" dirty="0"/>
              <a:t>It includes :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Processes for user authentication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Enforcement of roles and responsibilities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Change management : 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000" b="0" i="0" dirty="0">
                <a:effectLst/>
              </a:rPr>
              <a:t>procedure controls any additions, deletions, or modifications to the department configuration of desktops, servers and </a:t>
            </a:r>
            <a:r>
              <a:rPr lang="en-US" sz="2000" i="0" dirty="0">
                <a:effectLst/>
              </a:rPr>
              <a:t>network</a:t>
            </a:r>
            <a:r>
              <a:rPr lang="en-US" sz="2000" b="0" i="0" dirty="0">
                <a:effectLst/>
              </a:rPr>
              <a:t> hardware and/or software.</a:t>
            </a:r>
            <a:endParaRPr lang="en-IN" sz="2000" b="1" dirty="0"/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Use of encryption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Network segmentation : </a:t>
            </a:r>
            <a:r>
              <a:rPr lang="en-US" sz="2000" b="1" i="0" dirty="0">
                <a:effectLst/>
              </a:rPr>
              <a:t>splitting a computer network into subnetworks</a:t>
            </a:r>
            <a:r>
              <a:rPr lang="en-US" sz="2000" b="0" i="0" dirty="0">
                <a:effectLst/>
              </a:rPr>
              <a:t>, each being a network segment. Advantages of such splitting are primarily for </a:t>
            </a:r>
            <a:r>
              <a:rPr lang="en-US" sz="2000" b="1" i="0" dirty="0">
                <a:effectLst/>
              </a:rPr>
              <a:t>boosting performance and improving security</a:t>
            </a:r>
            <a:r>
              <a:rPr lang="en-US" sz="2000" b="0" i="0" dirty="0">
                <a:effectLst/>
              </a:rPr>
              <a:t>.</a:t>
            </a:r>
            <a:endParaRPr lang="en-IN" sz="2000" dirty="0"/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Audit logs </a:t>
            </a:r>
            <a:r>
              <a:rPr lang="en-IN" sz="2000" dirty="0"/>
              <a:t>: </a:t>
            </a:r>
            <a:r>
              <a:rPr lang="en-US" sz="2000" b="0" i="0" dirty="0">
                <a:solidFill>
                  <a:srgbClr val="202124"/>
                </a:solidFill>
                <a:effectLst/>
              </a:rPr>
              <a:t>Audit log has </a:t>
            </a:r>
            <a:r>
              <a:rPr lang="en-US" sz="2000" b="1" i="0" dirty="0">
                <a:solidFill>
                  <a:srgbClr val="202124"/>
                </a:solidFill>
                <a:effectLst/>
              </a:rPr>
              <a:t>records</a:t>
            </a:r>
            <a:r>
              <a:rPr lang="en-US" sz="2000" b="0" i="0" dirty="0">
                <a:solidFill>
                  <a:srgbClr val="202124"/>
                </a:solidFill>
                <a:effectLst/>
              </a:rPr>
              <a:t> providing information about who has accessed the system and what operations he or she has performed during a given period.  Audit logs are useful both for </a:t>
            </a:r>
            <a:r>
              <a:rPr lang="en-US" sz="2000" b="1" i="0" dirty="0">
                <a:solidFill>
                  <a:srgbClr val="202124"/>
                </a:solidFill>
                <a:effectLst/>
              </a:rPr>
              <a:t>maintaining security and for recovering lost transactions</a:t>
            </a:r>
            <a:r>
              <a:rPr lang="en-US" sz="2000" b="0" i="0" dirty="0">
                <a:solidFill>
                  <a:srgbClr val="202124"/>
                </a:solidFill>
                <a:effectLst/>
              </a:rPr>
              <a:t>.</a:t>
            </a:r>
            <a:endParaRPr lang="en-IN" sz="2000" dirty="0"/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2000" b="1" dirty="0"/>
              <a:t>System backup and recovery</a:t>
            </a:r>
            <a:endParaRPr lang="en-IN" sz="20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endParaRPr lang="en-IN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89804B-D487-4C77-A0AF-9DE8C462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"/>
            <a:ext cx="11379200" cy="673820"/>
          </a:xfrm>
        </p:spPr>
        <p:txBody>
          <a:bodyPr>
            <a:normAutofit/>
          </a:bodyPr>
          <a:lstStyle/>
          <a:p>
            <a:r>
              <a:rPr lang="en-IN" sz="2000" b="1" dirty="0"/>
              <a:t>Security Foundational Requirements in IEC 62443-3-3</a:t>
            </a:r>
          </a:p>
        </p:txBody>
      </p:sp>
    </p:spTree>
    <p:extLst>
      <p:ext uri="{BB962C8B-B14F-4D97-AF65-F5344CB8AC3E}">
        <p14:creationId xmlns:p14="http://schemas.microsoft.com/office/powerpoint/2010/main" val="2272934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ISA/IEC 62443 Cyber security Certification Programs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Certificate 1:</a:t>
            </a:r>
            <a:r>
              <a:rPr lang="en-US" sz="2000" dirty="0"/>
              <a:t> ISA/IEC 62443 Cyber security Fundamentals Specialist.</a:t>
            </a:r>
            <a:endParaRPr lang="en-IN" sz="2000" dirty="0"/>
          </a:p>
          <a:p>
            <a:r>
              <a:rPr lang="en-US" sz="2000" b="1" dirty="0"/>
              <a:t>Certificate 2:</a:t>
            </a:r>
            <a:r>
              <a:rPr lang="en-US" sz="2000" dirty="0"/>
              <a:t> ISA/IEC 62443 Cyber security Risk Assessment Specialist.</a:t>
            </a:r>
            <a:endParaRPr lang="en-IN" sz="2000" dirty="0"/>
          </a:p>
          <a:p>
            <a:r>
              <a:rPr lang="en-US" sz="2000" b="1" dirty="0"/>
              <a:t>Certificate 3:</a:t>
            </a:r>
            <a:r>
              <a:rPr lang="en-US" sz="2000" dirty="0"/>
              <a:t> ISA/IEC 62443 Cyber security Design Specialist.</a:t>
            </a:r>
            <a:endParaRPr lang="en-IN" sz="2000" dirty="0"/>
          </a:p>
          <a:p>
            <a:r>
              <a:rPr lang="en-US" sz="2000" b="1" dirty="0"/>
              <a:t>Certificate 4:</a:t>
            </a:r>
            <a:r>
              <a:rPr lang="en-US" sz="2000" dirty="0"/>
              <a:t> ISA/IEC 62443 Cyber security Maintenance Specialist.</a:t>
            </a:r>
            <a:endParaRPr lang="en-IN" sz="2000" dirty="0"/>
          </a:p>
          <a:p>
            <a:r>
              <a:rPr lang="en-US" sz="2000" b="1" dirty="0"/>
              <a:t>ISA/IEC 62443 Cyber security Expert:</a:t>
            </a:r>
            <a:r>
              <a:rPr lang="en-US" sz="2000" dirty="0"/>
              <a:t> Individuals who achieve Certificates 1, 2, 3, and 4 are designated as ISA/IEC 62443 Cyber security Experts.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US" sz="2000" dirty="0"/>
              <a:t>Link for the certification requirements and training course:</a:t>
            </a:r>
            <a:endParaRPr lang="en-IN" sz="2000" dirty="0"/>
          </a:p>
          <a:p>
            <a:pPr marL="0" indent="0">
              <a:buNone/>
            </a:pPr>
            <a:r>
              <a:rPr lang="en-US" sz="2000" u="sng" dirty="0">
                <a:hlinkClick r:id="rId2"/>
              </a:rPr>
              <a:t>https://www.isa.org/training-and-certification/isa-certification/isa99iec-62443/isa99iec-62443-cybersecurity-certificate-programs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83171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sz="2400" b="1" dirty="0"/>
              <a:t>IEC 60601-4-5 (</a:t>
            </a:r>
            <a:r>
              <a:rPr lang="en-US" sz="2400" b="1" dirty="0"/>
              <a:t> Safety-related technical security specifications</a:t>
            </a:r>
            <a:r>
              <a:rPr lang="en-US" sz="2400" dirty="0"/>
              <a:t>)</a:t>
            </a:r>
            <a:endParaRPr lang="en-IN" sz="2400" b="1" dirty="0"/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465832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+mn-lt"/>
              </a:rPr>
              <a:t>IEC 60601-4-5 (Safety-related technical security specifications) </a:t>
            </a:r>
            <a:endParaRPr lang="en-IN" sz="2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is a technical report.</a:t>
            </a:r>
          </a:p>
          <a:p>
            <a:r>
              <a:rPr lang="en-IN" sz="2000" dirty="0"/>
              <a:t>Provides </a:t>
            </a:r>
            <a:r>
              <a:rPr lang="en-IN" sz="2000" b="1" dirty="0"/>
              <a:t>detailed technical specifications </a:t>
            </a:r>
            <a:r>
              <a:rPr lang="en-IN" sz="2000" dirty="0"/>
              <a:t>of security features for </a:t>
            </a:r>
            <a:r>
              <a:rPr lang="en-IN" sz="2000" b="1" dirty="0"/>
              <a:t>MEDICAL DEVICES </a:t>
            </a:r>
            <a:r>
              <a:rPr lang="en-IN" sz="2000" dirty="0"/>
              <a:t>used in </a:t>
            </a:r>
            <a:r>
              <a:rPr lang="en-IN" sz="2000" b="1" dirty="0"/>
              <a:t>MEDICAL IT-NETWORKS</a:t>
            </a:r>
            <a:r>
              <a:rPr lang="en-IN" sz="2000" dirty="0"/>
              <a:t>.</a:t>
            </a:r>
            <a:endParaRPr lang="en-US" sz="2000" dirty="0"/>
          </a:p>
          <a:p>
            <a:r>
              <a:rPr lang="en-US" sz="2000" dirty="0"/>
              <a:t>It is currently available as a draft.</a:t>
            </a:r>
          </a:p>
          <a:p>
            <a:r>
              <a:rPr lang="en-US" sz="2000" dirty="0"/>
              <a:t>Current Edition -1 (2021)</a:t>
            </a:r>
            <a:endParaRPr lang="en-IN" sz="2000" dirty="0"/>
          </a:p>
          <a:p>
            <a:r>
              <a:rPr lang="en-IN" sz="2000" dirty="0"/>
              <a:t>This standard will help you 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Develop safe products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Avoid unnecessary expenses.</a:t>
            </a:r>
          </a:p>
          <a:p>
            <a:r>
              <a:rPr lang="en-IN" sz="2000" dirty="0"/>
              <a:t>This standard gives you instructions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On which measures to implement to improve IT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On which factors this obligation is dependent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251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IEC 60601-4-5: Structure  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A2B93-2056-4285-8EC3-2710805A9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" y="1448373"/>
            <a:ext cx="11540490" cy="45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04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000" b="1" dirty="0"/>
              <a:t>Security Levels – The central concept of IEC 60601-4-5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790" y="874931"/>
            <a:ext cx="6669649" cy="5736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standard works with three types of security level (SL):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SL-T: The Target Security Level</a:t>
            </a:r>
            <a:r>
              <a:rPr lang="en-US" sz="2000" dirty="0"/>
              <a:t>, that one must achieve for the network including the networked medical devices, to achieve the set protection goal.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SL-C: The Capability Security Level</a:t>
            </a:r>
            <a:r>
              <a:rPr lang="en-US" sz="2000" dirty="0"/>
              <a:t>,  that can be achieved for the medical product and the network, if one takes measures to improve IT security.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SL-A: The Achieved Security Level</a:t>
            </a:r>
            <a:r>
              <a:rPr lang="en-US" sz="2000" dirty="0"/>
              <a:t>, the level one achieves.</a:t>
            </a:r>
          </a:p>
          <a:p>
            <a:pPr lvl="0"/>
            <a:endParaRPr lang="en-IN" sz="2000" dirty="0"/>
          </a:p>
          <a:p>
            <a:r>
              <a:rPr lang="en-US" sz="2000" dirty="0"/>
              <a:t>For each security level, the IEC 60601-4-5 proposes five levels, from SL 0 (nothing implemented) to SL 4, the highest level. </a:t>
            </a:r>
          </a:p>
          <a:p>
            <a:r>
              <a:rPr lang="en-US" sz="2000" dirty="0"/>
              <a:t>Naturally, high security levels must be achieved for high risks. 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C9C50-0531-4766-BE0D-105F63A72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455" y="1634273"/>
            <a:ext cx="4405239" cy="358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28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4695-2215-4F72-9BC7-AD297B03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 </a:t>
            </a:r>
            <a:r>
              <a:rPr lang="en-US" sz="2000" b="1" dirty="0"/>
              <a:t>SL-T</a:t>
            </a:r>
            <a:r>
              <a:rPr lang="en-US" sz="2000" dirty="0"/>
              <a:t> must ultimately be determined by the </a:t>
            </a:r>
            <a:r>
              <a:rPr lang="en-US" sz="2000" b="1" dirty="0"/>
              <a:t>operator or integrator</a:t>
            </a:r>
            <a:r>
              <a:rPr lang="en-US" sz="2000" dirty="0"/>
              <a:t>, because only they can decide which network environment a medical device will be used in.</a:t>
            </a:r>
          </a:p>
          <a:p>
            <a:r>
              <a:rPr lang="en-US" sz="2000" dirty="0"/>
              <a:t>However, the </a:t>
            </a:r>
            <a:r>
              <a:rPr lang="en-US" sz="2000" b="1" dirty="0"/>
              <a:t>manufacturer determines the SL-C</a:t>
            </a:r>
            <a:r>
              <a:rPr lang="en-US" sz="2000" dirty="0"/>
              <a:t>, that can be achieved if the operator configures and operates the device according to specification. </a:t>
            </a:r>
          </a:p>
          <a:p>
            <a:r>
              <a:rPr lang="en-US" sz="2000" dirty="0"/>
              <a:t>The SL-C depends on which </a:t>
            </a:r>
            <a:r>
              <a:rPr lang="en-US" sz="2000" b="1" dirty="0"/>
              <a:t>measures the manufacturer has implemented and reviewed</a:t>
            </a:r>
            <a:r>
              <a:rPr lang="en-US" sz="2000" dirty="0"/>
              <a:t>.</a:t>
            </a:r>
          </a:p>
          <a:p>
            <a:r>
              <a:rPr lang="en-US" sz="2000" dirty="0"/>
              <a:t>Which actual security level (</a:t>
            </a:r>
            <a:r>
              <a:rPr lang="en-US" sz="2000" b="1" dirty="0"/>
              <a:t>SL-A</a:t>
            </a:r>
            <a:r>
              <a:rPr lang="en-US" sz="2000" dirty="0"/>
              <a:t>) the operator achieves, depends on multiple factors: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Has the operator correctly configured within the network and the network itself?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Has the operator implemented measures to increase IT security outside of the device?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For example, "integration tests” determine the actual SL-A achieved, wherein “integration” means the integration of the device into the associated networks.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696F28-0FB9-4565-BB2B-D5FC5D27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0"/>
            <a:ext cx="11379200" cy="67310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Security Levels – The central concept of IEC 60601-4-5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12635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4A18B-DD1C-4FE2-B1F8-0DC061046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i="1" dirty="0"/>
              <a:t>Determination of SL-T</a:t>
            </a:r>
            <a:endParaRPr lang="en-US" sz="2000" dirty="0"/>
          </a:p>
          <a:p>
            <a:r>
              <a:rPr lang="en-US" sz="2000" dirty="0"/>
              <a:t>ICE 60601-4-5 recommends individually determining the SL-Ts for these various environments.</a:t>
            </a:r>
          </a:p>
          <a:p>
            <a:r>
              <a:rPr lang="en-US" sz="2000" dirty="0"/>
              <a:t>But not only the network environment should have an influence, but also: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Value of the product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Amount of damage if the basic security or significant performance features are no longer present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Presence of patient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User profile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Home network versus hospital network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Number of the medical products on the market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38FB62-9545-4E84-B869-CBEBCCB5A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0"/>
            <a:ext cx="11379200" cy="67310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Security Levels – The central concept of IEC 60601-4-5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3530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828A-6302-46EC-84FB-13901ECC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i="1" dirty="0"/>
              <a:t>Benefits and use of Security Levels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6F73-02F6-487E-B274-57A97266A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1516575"/>
          </a:xfrm>
        </p:spPr>
        <p:txBody>
          <a:bodyPr>
            <a:normAutofit/>
          </a:bodyPr>
          <a:lstStyle/>
          <a:p>
            <a:r>
              <a:rPr lang="en-US" sz="2000" dirty="0"/>
              <a:t>The security levels help control the requirements and the expenses of IT security.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33B06F-8B5A-46AF-8BC6-71CCA8AAB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305966"/>
              </p:ext>
            </p:extLst>
          </p:nvPr>
        </p:nvGraphicFramePr>
        <p:xfrm>
          <a:off x="1252122" y="1845505"/>
          <a:ext cx="8360510" cy="3559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102">
                  <a:extLst>
                    <a:ext uri="{9D8B030D-6E8A-4147-A177-3AD203B41FA5}">
                      <a16:colId xmlns:a16="http://schemas.microsoft.com/office/drawing/2014/main" val="55143939"/>
                    </a:ext>
                  </a:extLst>
                </a:gridCol>
                <a:gridCol w="1672102">
                  <a:extLst>
                    <a:ext uri="{9D8B030D-6E8A-4147-A177-3AD203B41FA5}">
                      <a16:colId xmlns:a16="http://schemas.microsoft.com/office/drawing/2014/main" val="3509694250"/>
                    </a:ext>
                  </a:extLst>
                </a:gridCol>
                <a:gridCol w="1672102">
                  <a:extLst>
                    <a:ext uri="{9D8B030D-6E8A-4147-A177-3AD203B41FA5}">
                      <a16:colId xmlns:a16="http://schemas.microsoft.com/office/drawing/2014/main" val="3355858946"/>
                    </a:ext>
                  </a:extLst>
                </a:gridCol>
                <a:gridCol w="1672102">
                  <a:extLst>
                    <a:ext uri="{9D8B030D-6E8A-4147-A177-3AD203B41FA5}">
                      <a16:colId xmlns:a16="http://schemas.microsoft.com/office/drawing/2014/main" val="4047528226"/>
                    </a:ext>
                  </a:extLst>
                </a:gridCol>
                <a:gridCol w="1672102">
                  <a:extLst>
                    <a:ext uri="{9D8B030D-6E8A-4147-A177-3AD203B41FA5}">
                      <a16:colId xmlns:a16="http://schemas.microsoft.com/office/drawing/2014/main" val="1604316429"/>
                    </a:ext>
                  </a:extLst>
                </a:gridCol>
              </a:tblGrid>
              <a:tr h="411783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>
                          <a:effectLst/>
                          <a:latin typeface="&amp;quot"/>
                        </a:rPr>
                        <a:t>SL1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>
                          <a:effectLst/>
                          <a:latin typeface="&amp;quot"/>
                        </a:rPr>
                        <a:t>SL2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>
                          <a:effectLst/>
                          <a:latin typeface="&amp;quot"/>
                        </a:rPr>
                        <a:t>SL3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dirty="0">
                          <a:effectLst/>
                          <a:latin typeface="&amp;quot"/>
                        </a:rPr>
                        <a:t>SL4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024167"/>
                  </a:ext>
                </a:extLst>
              </a:tr>
              <a:tr h="710749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authentication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557325"/>
                  </a:ext>
                </a:extLst>
              </a:tr>
              <a:tr h="1015356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Multi-factor authentication at all interfaces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505830"/>
                  </a:ext>
                </a:extLst>
              </a:tr>
              <a:tr h="710749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authorizations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829808"/>
                  </a:ext>
                </a:extLst>
              </a:tr>
              <a:tr h="710749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Malware protection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671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658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3" r="13693"/>
          <a:stretch>
            <a:fillRect/>
          </a:stretch>
        </p:blipFill>
        <p:spPr>
          <a:xfrm>
            <a:off x="5839351" y="-1"/>
            <a:ext cx="6352651" cy="6556788"/>
          </a:xfrm>
        </p:spPr>
      </p:pic>
      <p:sp>
        <p:nvSpPr>
          <p:cNvPr id="9" name="TextBox 8"/>
          <p:cNvSpPr txBox="1"/>
          <p:nvPr/>
        </p:nvSpPr>
        <p:spPr>
          <a:xfrm>
            <a:off x="1947334" y="1998134"/>
            <a:ext cx="3489481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333" b="1" dirty="0">
                <a:solidFill>
                  <a:schemeClr val="bg2"/>
                </a:solidFill>
              </a:rPr>
              <a:t>Thank </a:t>
            </a:r>
            <a:r>
              <a:rPr lang="en-IN" sz="5333" b="1" dirty="0">
                <a:solidFill>
                  <a:srgbClr val="FFC000"/>
                </a:solidFill>
              </a:rPr>
              <a:t>You</a:t>
            </a:r>
            <a:r>
              <a:rPr lang="en-IN" sz="5333" b="1" dirty="0">
                <a:solidFill>
                  <a:schemeClr val="bg2"/>
                </a:solidFill>
              </a:rPr>
              <a:t> !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E64500E8-6DE5-420E-A176-916B47731F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12641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3660</TotalTime>
  <Words>2366</Words>
  <Application>Microsoft Office PowerPoint</Application>
  <PresentationFormat>Widescreen</PresentationFormat>
  <Paragraphs>264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&amp;quot</vt:lpstr>
      <vt:lpstr>Arial</vt:lpstr>
      <vt:lpstr>Arial</vt:lpstr>
      <vt:lpstr>Calibri</vt:lpstr>
      <vt:lpstr>Calibri Light</vt:lpstr>
      <vt:lpstr>Source Sans Pro</vt:lpstr>
      <vt:lpstr>Symbol</vt:lpstr>
      <vt:lpstr>Wingdings</vt:lpstr>
      <vt:lpstr>Office Theme</vt:lpstr>
      <vt:lpstr>SaMD (Software as a Medical Device) , SiMD (Software in a Medical Device) &amp;  IEC Standards  </vt:lpstr>
      <vt:lpstr>Agenda </vt:lpstr>
      <vt:lpstr>PowerPoint Presentation</vt:lpstr>
      <vt:lpstr>SaMD (Software as a Medical Device)</vt:lpstr>
      <vt:lpstr>SaMD (Software as a Medical Device)</vt:lpstr>
      <vt:lpstr>Classification of SaMD</vt:lpstr>
      <vt:lpstr>Classification of SaMD</vt:lpstr>
      <vt:lpstr>SaMD Categories</vt:lpstr>
      <vt:lpstr>SaMD Categories</vt:lpstr>
      <vt:lpstr>SiMD (Software in a Medical Device)</vt:lpstr>
      <vt:lpstr>PowerPoint Presentation</vt:lpstr>
      <vt:lpstr>IEC 15408 (The Common Criteria for Information Technology Security Evaluation)</vt:lpstr>
      <vt:lpstr>IEC 15408- Market acceptability</vt:lpstr>
      <vt:lpstr>Evaluation procedure for Common Criteria (IEC 15408)</vt:lpstr>
      <vt:lpstr>IEC 15408 Components</vt:lpstr>
      <vt:lpstr>IEC 15408 Components</vt:lpstr>
      <vt:lpstr>IEC 15408 Components</vt:lpstr>
      <vt:lpstr>IEC 15408 : Quality Assurance processes</vt:lpstr>
      <vt:lpstr>PowerPoint Presentation</vt:lpstr>
      <vt:lpstr>IEC 62443 (Secure Industrial Automation and Control Systems (IACS) )</vt:lpstr>
      <vt:lpstr>IEC 62443 : Fundamental Requirements </vt:lpstr>
      <vt:lpstr>IEC 62443 : Division </vt:lpstr>
      <vt:lpstr>The key standards in the IEC 62443 series</vt:lpstr>
      <vt:lpstr>The key standards in the IEC 62443 series</vt:lpstr>
      <vt:lpstr>The key standards in the IEC 62443 series</vt:lpstr>
      <vt:lpstr>Security Foundational Requirements in IEC 62443-3-3</vt:lpstr>
      <vt:lpstr>ISA/IEC 62443 Cyber security Certification Programs</vt:lpstr>
      <vt:lpstr>PowerPoint Presentation</vt:lpstr>
      <vt:lpstr>IEC 60601-4-5 (Safety-related technical security specifications) </vt:lpstr>
      <vt:lpstr>IEC 60601-4-5: Structure  </vt:lpstr>
      <vt:lpstr>Security Levels – The central concept of IEC 60601-4-5</vt:lpstr>
      <vt:lpstr>Security Levels – The central concept of IEC 60601-4-5</vt:lpstr>
      <vt:lpstr>Security Levels – The central concept of IEC 60601-4-5</vt:lpstr>
      <vt:lpstr>Benefits and use of Security Levels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Madhura Ramojwar</dc:creator>
  <cp:lastModifiedBy>Madhura Ramojwar</cp:lastModifiedBy>
  <cp:revision>182</cp:revision>
  <dcterms:created xsi:type="dcterms:W3CDTF">2021-02-15T10:41:30Z</dcterms:created>
  <dcterms:modified xsi:type="dcterms:W3CDTF">2021-02-19T12:33:33Z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2021-02-15T11:27:53Z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203f14b9-59f9-43b7-a276-0000b8eafd17</vt:lpwstr>
  </property>
  <property fmtid="{D5CDD505-2E9C-101B-9397-08002B2CF9AE}" pid="8" name="MSIP_Label_4b5591f2-6b23-403d-aa5f-b6d577f5e572_ContentBits">
    <vt:lpwstr>0</vt:lpwstr>
  </property>
</Properties>
</file>